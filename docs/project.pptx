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2"/>
    <p:restoredTop sz="83288"/>
  </p:normalViewPr>
  <p:slideViewPr>
    <p:cSldViewPr snapToGrid="0">
      <p:cViewPr varScale="1">
        <p:scale>
          <a:sx n="105" d="100"/>
          <a:sy n="105" d="100"/>
        </p:scale>
        <p:origin x="1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健 翁" userId="bedff36119963aae" providerId="LiveId" clId="{27ED6732-6F8F-5AFA-AF64-6D088C0F8B0A}"/>
    <pc:docChg chg="modSld">
      <pc:chgData name="健 翁" userId="bedff36119963aae" providerId="LiveId" clId="{27ED6732-6F8F-5AFA-AF64-6D088C0F8B0A}" dt="2026-08-12T08:06:51.605" v="7" actId="20577"/>
      <pc:docMkLst>
        <pc:docMk/>
      </pc:docMkLst>
      <pc:sldChg chg="modSp mod">
        <pc:chgData name="健 翁" userId="bedff36119963aae" providerId="LiveId" clId="{27ED6732-6F8F-5AFA-AF64-6D088C0F8B0A}" dt="2026-08-12T08:06:51.605" v="7" actId="20577"/>
        <pc:sldMkLst>
          <pc:docMk/>
          <pc:sldMk cId="3470589234" sldId="258"/>
        </pc:sldMkLst>
        <pc:spChg chg="mod">
          <ac:chgData name="健 翁" userId="bedff36119963aae" providerId="LiveId" clId="{27ED6732-6F8F-5AFA-AF64-6D088C0F8B0A}" dt="2026-08-12T08:06:51.605" v="7" actId="20577"/>
          <ac:spMkLst>
            <pc:docMk/>
            <pc:sldMk cId="3470589234" sldId="258"/>
            <ac:spMk id="3" creationId="{E27B5E80-54E8-233D-5932-AAED3E9870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4B8A2-4FC6-1B4B-B419-396A83013AFA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CBE8C-566F-AC4B-A20D-7E4F1326576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596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CBE8C-566F-AC4B-A20D-7E4F13265767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61924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1F89B-9DB9-BEB3-B4F9-341C1E846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28A3C-5BD1-DC44-E417-1727A36E2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2550-DCA0-697F-2EBC-C4C09719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FB9E0-489E-D844-BDDF-4C67AB30F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F826-936D-A32F-1E8C-A072CDD5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986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58058-CC12-F510-35B4-7811E5A9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E82-8089-1770-6E01-86F7B0825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33519-D9F5-A1F8-5B93-F1A446C0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51F00-0DB1-030D-F477-2309A395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D53A-D06A-FD9B-8A15-489E09BE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403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911A-D403-D94C-CB02-A4DC78D6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A518B-E72F-4EB0-7C28-FE8C5BBC7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CA8B7-CF7B-14CE-E283-CEE8E81D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55EA9-4941-6791-BF83-ACA62DFD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63D78-5F0C-EBFF-B039-E36BB465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033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529A-CC94-BE19-5536-2C0F631ED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F2F72-CD89-C165-9170-36CD871A0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118F0-1F12-5F9F-E78A-C509A9201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43B55-7A48-1462-BA56-59E800BD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3F768-4F10-AC86-FD62-EBDEBC36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BAE72-8657-A259-100B-8DFDC9E2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652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EC7A-7B21-50A2-CDB8-4F6DE6F0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87BA2-97DF-FB78-53E1-304677E05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11B60-9137-8887-7E88-FAA6A1755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ED989-2463-5253-974F-032592A3A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24923-34BE-48D7-7340-AE7D863E5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D56D5-993A-E55B-3DF4-CD1FBD47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BD4DC-B1E1-4D84-CFE8-58167513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1EEB9-FE3E-A14B-DC65-F1B7B39D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810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5B89-BC6E-09D3-E914-810B1F04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69D02-9F46-9B66-DF36-F13727B3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52E49-B9EB-6934-A574-894B5B54B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853EB-0E40-115D-0639-EFC0E21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397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20311-906D-3D18-2084-6F9D2FDA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F89282-139E-522E-54D2-05B58DBC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B6AA3-67F0-9A9B-EFA8-B6522BBF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710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1DA6-3774-5DBD-CFE9-61A6FD76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CC86C-C1E2-554A-98B1-FB35A7AD2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1EA41-47BB-38F1-8AA7-473307BD8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3246D-78A8-AECF-5D21-ADFD5B2A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5C2A5-FBD7-5BCD-8221-A2867C4C9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F9CB8-14ED-5352-F498-70ECFA1F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133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C22A-AEA8-0A72-0549-E10C43770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53D2F-381A-A1FE-E3A9-8AC3F77F7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65971-14D1-5E59-D15A-EC7D1B527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23B9C-C12D-A4C3-CBAA-2503E60D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23665-7A5A-3B4A-2649-8FEA99B8E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C39E4-4305-3E48-5695-1DE96B0D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914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61DD-A35F-4780-38B8-15366C65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38E92-EF66-E4E2-D366-061F40397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ACCB5-4FBC-226C-D72F-B929622A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84BD6-B316-843B-D69E-D808BF8F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170AC-C1AE-3449-B44F-99E6B792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78679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962BF-F084-7654-530C-B59CE031C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9F5EE-148D-DED2-2D77-02B6CA318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1D074-F65E-6E2E-8DF0-96F7FE72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D15DC-514C-749C-DF0A-64011B754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E3005-8C6A-468A-86B6-D8757CEF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10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A70E6-544A-3D7D-C5A8-AB7142904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69DF3-D83B-7389-4824-23E9C6AAE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D0630-1307-5530-ADFB-8FB856EFA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97C68-FDB8-2D4C-86E6-4F2C4DFF100C}" type="datetimeFigureOut">
              <a:rPr lang="en-CN" smtClean="0"/>
              <a:t>2026/8/17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B7EF6-45D6-D998-99EC-A3A0DFF95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469BC-04D9-85C4-7C0A-BF63AE916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747B0-9C25-3448-A5A6-B563DF65267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85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syksphinz-self.github.io/riscv-isadoc/html/rvi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cb-bar/riscv-benchmarks/blob/master/vvadd/vvadd_main.c#L26-L31" TargetMode="External"/><Relationship Id="rId2" Type="http://schemas.openxmlformats.org/officeDocument/2006/relationships/hyperlink" Target="https://github.com/ucb-bar/riscv-benchmarks/blob/4d46f673ae42a321e35f5b40b2f5c8f498bc1d9d/multiply/multiply_main.c#L35-L4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cv-collab/riscv-gnu-toolcha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ynthesys-Lab/assassyn/blob/master/python/ci-tests/test_async_call.py" TargetMode="External"/><Relationship Id="rId2" Type="http://schemas.openxmlformats.org/officeDocument/2006/relationships/hyperlink" Target="https://github.com/Synthesys-Lab/assassyn/blob/master/python/ci-tests/test_driver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ynthesys-Lab/assassyn/blob/master/python/ci-tests/test_downstream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54DD-7FC1-9EB9-2B72-403CAB418D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7200" dirty="0"/>
              <a:t>大作业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68B43-E353-9988-91DE-F6B269677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69706"/>
          </a:xfrm>
        </p:spPr>
        <p:txBody>
          <a:bodyPr>
            <a:normAutofit/>
          </a:bodyPr>
          <a:lstStyle/>
          <a:p>
            <a:r>
              <a:rPr lang="en-CN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周第</a:t>
            </a:r>
            <a:r>
              <a:rPr lang="en-US" altLang="zh-CN" dirty="0"/>
              <a:t>1</a:t>
            </a:r>
            <a:r>
              <a:rPr lang="zh-CN" altLang="en-US" dirty="0"/>
              <a:t>次</a:t>
            </a:r>
            <a:endParaRPr lang="en-US" altLang="zh-CN" dirty="0"/>
          </a:p>
          <a:p>
            <a:r>
              <a:rPr lang="zh-CN" altLang="en-US" dirty="0"/>
              <a:t>翁健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</a:t>
            </a:r>
            <a:endParaRPr lang="en-US" altLang="zh-CN" dirty="0"/>
          </a:p>
          <a:p>
            <a:r>
              <a:rPr lang="zh-CN" altLang="en-US" dirty="0"/>
              <a:t>“刚刚反诈中心打电话给我，不要往销户的账号里转账”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67811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D2D2-3608-A076-CEAD-8EFFE60D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58" y="397607"/>
            <a:ext cx="11394276" cy="1325563"/>
          </a:xfrm>
        </p:spPr>
        <p:txBody>
          <a:bodyPr/>
          <a:lstStyle/>
          <a:p>
            <a:r>
              <a:rPr lang="en-CN" dirty="0"/>
              <a:t>一个乱序的能够参数化的多发射</a:t>
            </a:r>
            <a:r>
              <a:rPr lang="en-US" altLang="zh-CN" dirty="0"/>
              <a:t>CPU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4CDA0-889C-570E-DB1A-140C16551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21" y="1992681"/>
            <a:ext cx="11165958" cy="43513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顺</a:t>
            </a:r>
            <a:r>
              <a:rPr lang="en-US" altLang="zh-CN" sz="3200" dirty="0"/>
              <a:t>/</a:t>
            </a:r>
            <a:r>
              <a:rPr lang="zh-CN" altLang="en-US" sz="3200" dirty="0"/>
              <a:t>乱序发射不需要参数化</a:t>
            </a:r>
            <a:endParaRPr lang="en-US" altLang="zh-CN" sz="3200" dirty="0"/>
          </a:p>
          <a:p>
            <a:pPr lvl="1"/>
            <a:r>
              <a:rPr lang="zh-CN" altLang="en-US" sz="2800" dirty="0"/>
              <a:t>因为顺</a:t>
            </a:r>
            <a:r>
              <a:rPr lang="en-US" altLang="zh-CN" sz="2800" dirty="0"/>
              <a:t>/</a:t>
            </a:r>
            <a:r>
              <a:rPr lang="zh-CN" altLang="en-US" sz="2800" dirty="0"/>
              <a:t>乱序的执行模型不一样，相当于重写代码</a:t>
            </a:r>
            <a:endParaRPr lang="en-US" altLang="zh-CN" sz="2800" dirty="0"/>
          </a:p>
          <a:p>
            <a:r>
              <a:rPr lang="zh-CN" altLang="en-US" sz="3200" dirty="0"/>
              <a:t>参数化</a:t>
            </a:r>
            <a:endParaRPr lang="en-US" altLang="zh-CN" sz="3200" dirty="0"/>
          </a:p>
          <a:p>
            <a:pPr lvl="1"/>
            <a:r>
              <a:rPr lang="zh-CN" altLang="en-US" sz="2800" dirty="0"/>
              <a:t>前端宽度</a:t>
            </a:r>
            <a:r>
              <a:rPr lang="en-US" altLang="zh-CN" sz="2800" dirty="0"/>
              <a:t>/</a:t>
            </a:r>
            <a:r>
              <a:rPr lang="zh-CN" altLang="en-US" sz="2800" dirty="0"/>
              <a:t>后端宽度：</a:t>
            </a:r>
            <a:r>
              <a:rPr lang="en-US" altLang="zh-CN" sz="2800" dirty="0"/>
              <a:t>1/2/4</a:t>
            </a:r>
            <a:r>
              <a:rPr lang="zh-CN" altLang="en-US" sz="2800" dirty="0"/>
              <a:t>生成不同的发射宽度的</a:t>
            </a:r>
            <a:r>
              <a:rPr lang="en-US" altLang="zh-CN" sz="2800" dirty="0"/>
              <a:t>CPU</a:t>
            </a:r>
          </a:p>
          <a:p>
            <a:pPr lvl="1"/>
            <a:r>
              <a:rPr lang="zh-CN" altLang="en-US" sz="2800" dirty="0"/>
              <a:t>物理寄存器大小：不同的物理寄存器大小产生重命名空间</a:t>
            </a:r>
            <a:endParaRPr lang="en-US" altLang="zh-CN" sz="2800" dirty="0"/>
          </a:p>
          <a:p>
            <a:pPr lvl="1"/>
            <a:r>
              <a:rPr lang="en-US" altLang="zh-CN" sz="2800" dirty="0" err="1"/>
              <a:t>RoB</a:t>
            </a:r>
            <a:r>
              <a:rPr lang="zh-CN" altLang="en-US" sz="2800" dirty="0"/>
              <a:t>大小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46859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4C19-22A8-CDFF-F968-1E50D99A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单发射的五级流水CPU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B5E80-54E8-233D-5932-AAED3E987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R</a:t>
            </a:r>
            <a:r>
              <a:rPr lang="en-US" altLang="zh-CN" dirty="0"/>
              <a:t>V32IM:</a:t>
            </a:r>
            <a:r>
              <a:rPr lang="zh-CN" altLang="en-US" dirty="0"/>
              <a:t> 最基础的</a:t>
            </a:r>
            <a:r>
              <a:rPr lang="en-US" altLang="zh-CN" dirty="0"/>
              <a:t>RISCV</a:t>
            </a:r>
            <a:r>
              <a:rPr lang="zh-CN" altLang="en-US" dirty="0"/>
              <a:t>指令集</a:t>
            </a:r>
            <a:endParaRPr lang="en-US" altLang="zh-CN" dirty="0"/>
          </a:p>
          <a:p>
            <a:r>
              <a:rPr lang="en-US" dirty="0">
                <a:hlinkClick r:id="rId2"/>
              </a:rPr>
              <a:t>https://msyksphinz-self.github.io/riscv-isadoc/html/rvi.html</a:t>
            </a:r>
            <a:endParaRPr lang="en-US" dirty="0"/>
          </a:p>
          <a:p>
            <a:r>
              <a:rPr lang="en-CN" dirty="0"/>
              <a:t>我觉得理论上</a:t>
            </a:r>
          </a:p>
          <a:p>
            <a:pPr lvl="1"/>
            <a:r>
              <a:rPr lang="en-US" altLang="zh-CN" dirty="0" err="1"/>
              <a:t>csr</a:t>
            </a:r>
            <a:r>
              <a:rPr lang="zh-CN" altLang="en-US" dirty="0"/>
              <a:t>*和</a:t>
            </a:r>
            <a:r>
              <a:rPr lang="en-US" altLang="zh-CN" dirty="0"/>
              <a:t>fence</a:t>
            </a:r>
            <a:r>
              <a:rPr lang="zh-CN" altLang="en-US" dirty="0"/>
              <a:t>是不需要的</a:t>
            </a:r>
            <a:endParaRPr lang="en-US" altLang="zh-CN" dirty="0"/>
          </a:p>
          <a:p>
            <a:pPr lvl="1"/>
            <a:r>
              <a:rPr lang="en-US" altLang="zh-CN" dirty="0" err="1"/>
              <a:t>lw</a:t>
            </a:r>
            <a:r>
              <a:rPr lang="zh-CN" altLang="en-US" dirty="0"/>
              <a:t>是需要的但是</a:t>
            </a:r>
            <a:r>
              <a:rPr lang="en-US" altLang="zh-CN" dirty="0" err="1"/>
              <a:t>lh</a:t>
            </a:r>
            <a:r>
              <a:rPr lang="en-US" altLang="zh-CN" dirty="0"/>
              <a:t>/</a:t>
            </a:r>
            <a:r>
              <a:rPr lang="en-US" altLang="zh-CN" dirty="0" err="1"/>
              <a:t>lb</a:t>
            </a:r>
            <a:r>
              <a:rPr lang="zh-CN" altLang="en-US" dirty="0"/>
              <a:t>是不需要的</a:t>
            </a:r>
            <a:endParaRPr lang="en-CN" altLang="zh-CN" dirty="0"/>
          </a:p>
          <a:p>
            <a:pPr lvl="1"/>
            <a:r>
              <a:rPr lang="zh-CN" altLang="en-CN" dirty="0"/>
              <a:t>仁慈一点</a:t>
            </a:r>
            <a:r>
              <a:rPr lang="zh-CN" altLang="en-US" dirty="0"/>
              <a:t>，我们甚至</a:t>
            </a:r>
            <a:r>
              <a:rPr lang="en-US" altLang="zh-CN" dirty="0" err="1"/>
              <a:t>jal</a:t>
            </a:r>
            <a:r>
              <a:rPr lang="zh-CN" altLang="en-US" dirty="0"/>
              <a:t>和</a:t>
            </a:r>
            <a:r>
              <a:rPr lang="en-US" altLang="zh-CN" dirty="0" err="1"/>
              <a:t>jalr</a:t>
            </a:r>
            <a:r>
              <a:rPr lang="zh-CN" altLang="en-US" dirty="0"/>
              <a:t>也可以不要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058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C651-38AC-4615-A29D-10202ED2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要跑的程序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5AF99-23DB-7E76-B1DA-48EDB240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3200" dirty="0"/>
              <a:t>我觉得系统课的乐趣在于折腾</a:t>
            </a:r>
          </a:p>
          <a:p>
            <a:r>
              <a:rPr lang="en-US" sz="3200" dirty="0" err="1"/>
              <a:t>一个向量乘法</a:t>
            </a:r>
            <a:endParaRPr lang="en-US" sz="3200" dirty="0"/>
          </a:p>
          <a:p>
            <a:pPr lvl="1"/>
            <a:r>
              <a:rPr lang="en-US" sz="2800" dirty="0">
                <a:hlinkClick r:id="rId2"/>
              </a:rPr>
              <a:t>https://github.com/ucb-bar/riscv-benchmarks/blob/4d46f673ae42a321e35f5b40b2f5c8f498bc1d9d/multiply/multiply_main.c#L35-L40</a:t>
            </a:r>
            <a:endParaRPr lang="en-US" sz="2800" dirty="0"/>
          </a:p>
          <a:p>
            <a:r>
              <a:rPr lang="en-CN" sz="3200" dirty="0"/>
              <a:t>一个向量加法</a:t>
            </a:r>
          </a:p>
          <a:p>
            <a:pPr lvl="1"/>
            <a:r>
              <a:rPr lang="en-US" sz="2800" dirty="0">
                <a:hlinkClick r:id="rId3"/>
              </a:rPr>
              <a:t>https://github.com/ucb-bar/riscv-benchmarks/blob/master/vvadd/vvadd_main.c#L26-L31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336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7A02-7662-C11D-2E9D-4EA26A3B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跑起来的程序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C1F45-A675-FF82-3E2A-4DC6CC36E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自己写一个从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100</a:t>
            </a:r>
            <a:r>
              <a:rPr lang="zh-CN" altLang="en-US" dirty="0"/>
              <a:t>的累加</a:t>
            </a:r>
            <a:endParaRPr lang="en-US" altLang="zh-CN" dirty="0"/>
          </a:p>
          <a:p>
            <a:r>
              <a:rPr lang="zh-CN" altLang="en-US" dirty="0"/>
              <a:t>以上程序都都要</a:t>
            </a:r>
            <a:endParaRPr lang="en-US" altLang="zh-CN" dirty="0"/>
          </a:p>
          <a:p>
            <a:pPr lvl="1"/>
            <a:r>
              <a:rPr lang="en-CN" dirty="0"/>
              <a:t>把c代码粘出来</a:t>
            </a:r>
          </a:p>
          <a:p>
            <a:pPr lvl="1"/>
            <a:r>
              <a:rPr lang="en-CN" dirty="0"/>
              <a:t>用</a:t>
            </a:r>
            <a:r>
              <a:rPr lang="en-US" altLang="zh-CN" dirty="0" err="1"/>
              <a:t>riscv</a:t>
            </a:r>
            <a:r>
              <a:rPr lang="en-US" altLang="zh-CN" dirty="0"/>
              <a:t>-gnu-toolchain-</a:t>
            </a:r>
            <a:r>
              <a:rPr lang="en-US" altLang="zh-CN" dirty="0" err="1"/>
              <a:t>gcc</a:t>
            </a:r>
            <a:r>
              <a:rPr lang="zh-CN" altLang="en-US" dirty="0"/>
              <a:t>编译出来</a:t>
            </a:r>
            <a:r>
              <a:rPr lang="en-US" altLang="zh-CN" dirty="0"/>
              <a:t>.o</a:t>
            </a:r>
          </a:p>
          <a:p>
            <a:pPr lvl="2"/>
            <a:r>
              <a:rPr lang="en-US" altLang="zh-CN" dirty="0">
                <a:hlinkClick r:id="rId3"/>
              </a:rPr>
              <a:t>https://github.com/riscv-collab/riscv-gnu-toolchain</a:t>
            </a:r>
            <a:endParaRPr lang="en-US" altLang="zh-CN" dirty="0"/>
          </a:p>
          <a:p>
            <a:pPr lvl="1"/>
            <a:r>
              <a:rPr lang="en-US" dirty="0" err="1"/>
              <a:t>把对应函数的</a:t>
            </a:r>
            <a:r>
              <a:rPr lang="en-US" altLang="zh-CN" dirty="0" err="1"/>
              <a:t>binaries</a:t>
            </a:r>
            <a:r>
              <a:rPr lang="zh-CN" altLang="en-US" dirty="0"/>
              <a:t>给抽出来</a:t>
            </a:r>
            <a:endParaRPr lang="en-US" altLang="zh-CN" dirty="0"/>
          </a:p>
          <a:p>
            <a:pPr lvl="1"/>
            <a:r>
              <a:rPr lang="zh-CN" altLang="en-US" dirty="0"/>
              <a:t>喂给</a:t>
            </a:r>
            <a:r>
              <a:rPr lang="en-US" altLang="zh-CN" dirty="0" err="1"/>
              <a:t>cpu</a:t>
            </a:r>
            <a:r>
              <a:rPr lang="zh-CN" altLang="en-US" dirty="0"/>
              <a:t>来跑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7245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63BDA-C211-22EC-57EF-3CE61461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验收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37B92-CBC9-2BB4-6CA0-DD871898B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promised</a:t>
            </a:r>
            <a:r>
              <a:rPr lang="zh-CN" altLang="en-US" dirty="0"/>
              <a:t> 这门课你交白卷我也会给你</a:t>
            </a:r>
            <a:r>
              <a:rPr lang="en-US" altLang="zh-CN" dirty="0"/>
              <a:t>60</a:t>
            </a:r>
            <a:r>
              <a:rPr lang="zh-CN" altLang="en-US" dirty="0"/>
              <a:t>分不挂科</a:t>
            </a:r>
            <a:endParaRPr lang="en-US" altLang="zh-CN" dirty="0"/>
          </a:p>
          <a:p>
            <a:pPr lvl="1"/>
            <a:r>
              <a:rPr lang="zh-CN" altLang="en-US" dirty="0"/>
              <a:t>因为我们是</a:t>
            </a:r>
            <a:r>
              <a:rPr lang="en-US" altLang="zh-CN" dirty="0"/>
              <a:t>Honored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，这门课到外面也选不到了</a:t>
            </a:r>
            <a:endParaRPr lang="en-US" altLang="zh-CN" dirty="0"/>
          </a:p>
          <a:p>
            <a:pPr lvl="1"/>
            <a:r>
              <a:rPr lang="en-CN" dirty="0"/>
              <a:t>没地方重修</a:t>
            </a:r>
            <a:r>
              <a:rPr lang="zh-CN" altLang="en-US" dirty="0"/>
              <a:t>，我不想制造额外的行政麻烦</a:t>
            </a:r>
            <a:endParaRPr lang="en-CN" dirty="0"/>
          </a:p>
          <a:p>
            <a:r>
              <a:rPr lang="en-CN" dirty="0"/>
              <a:t>能跑过这三个程序的仿真就保证</a:t>
            </a:r>
            <a:r>
              <a:rPr lang="en-US" altLang="zh-CN" dirty="0"/>
              <a:t>75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zh-CN" altLang="en-US" dirty="0"/>
              <a:t>但是丑化说在前头，二人组队的一个人</a:t>
            </a:r>
            <a:r>
              <a:rPr lang="en-US" altLang="zh-CN" dirty="0"/>
              <a:t>75</a:t>
            </a:r>
            <a:r>
              <a:rPr lang="zh-CN" altLang="en-US" dirty="0"/>
              <a:t>大概率另一个也是</a:t>
            </a:r>
            <a:r>
              <a:rPr lang="en-US" altLang="zh-CN" dirty="0"/>
              <a:t>75</a:t>
            </a:r>
          </a:p>
          <a:p>
            <a:r>
              <a:rPr lang="zh-CN" altLang="en-CN" dirty="0"/>
              <a:t>能跑过</a:t>
            </a:r>
            <a:r>
              <a:rPr lang="zh-CN" altLang="en-US" dirty="0"/>
              <a:t>所有的仿真器的程序，给</a:t>
            </a:r>
            <a:r>
              <a:rPr lang="en-US" altLang="zh-CN" dirty="0"/>
              <a:t>85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zh-CN" altLang="en-US" dirty="0"/>
              <a:t>去年几乎所有人都达到这个目标了</a:t>
            </a:r>
            <a:endParaRPr lang="en-US" altLang="zh-CN" dirty="0"/>
          </a:p>
          <a:p>
            <a:r>
              <a:rPr lang="zh-CN" altLang="en-US" dirty="0"/>
              <a:t>我相信你们都是聪明人所以不会抱大腿和</a:t>
            </a:r>
            <a:r>
              <a:rPr lang="zh-CN" altLang="en-CN" dirty="0"/>
              <a:t>被抱</a:t>
            </a:r>
            <a:r>
              <a:rPr lang="zh-CN" altLang="en-US" dirty="0"/>
              <a:t>的对</a:t>
            </a:r>
            <a:r>
              <a:rPr lang="en-US" altLang="zh-CN"/>
              <a:t>…</a:t>
            </a:r>
            <a:r>
              <a:rPr lang="zh-CN" altLang="en-US"/>
              <a:t>吧？</a:t>
            </a:r>
            <a:endParaRPr lang="en-US" altLang="zh-CN" dirty="0"/>
          </a:p>
          <a:p>
            <a:r>
              <a:rPr lang="en-CN" dirty="0"/>
              <a:t>报告</a:t>
            </a:r>
          </a:p>
          <a:p>
            <a:pPr lvl="1"/>
            <a:r>
              <a:rPr lang="en-CN" dirty="0"/>
              <a:t>架构的设计的探索</a:t>
            </a:r>
          </a:p>
          <a:p>
            <a:pPr lvl="1"/>
            <a:r>
              <a:rPr lang="en-CN" dirty="0"/>
              <a:t>性能的消融实验</a:t>
            </a:r>
            <a:r>
              <a:rPr lang="zh-CN" altLang="en-US" dirty="0"/>
              <a:t>：对于每一个参数的敏感度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327969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6641-1FBA-AD72-9067-8863B530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验收</a:t>
            </a:r>
            <a:r>
              <a:rPr lang="zh-CN" altLang="en-US" dirty="0"/>
              <a:t>（</a:t>
            </a:r>
            <a:r>
              <a:rPr lang="en-US" altLang="zh-CN" dirty="0"/>
              <a:t>Bonus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83034-4F16-4546-996C-1E24F12C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YoSys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ASAP7</a:t>
            </a:r>
            <a:r>
              <a:rPr lang="zh-CN" altLang="en-US" dirty="0"/>
              <a:t>工艺库综合面积</a:t>
            </a:r>
            <a:endParaRPr lang="en-US" altLang="zh-CN" dirty="0"/>
          </a:p>
          <a:p>
            <a:r>
              <a:rPr lang="zh-CN" altLang="en-US" dirty="0"/>
              <a:t>一个顺序单发射的</a:t>
            </a:r>
            <a:r>
              <a:rPr lang="en-US" altLang="zh-CN" dirty="0"/>
              <a:t>CPU</a:t>
            </a:r>
            <a:r>
              <a:rPr lang="zh-CN" altLang="en-US" dirty="0"/>
              <a:t>核心面积在</a:t>
            </a:r>
            <a:r>
              <a:rPr lang="en-US" altLang="zh-CN" dirty="0"/>
              <a:t>1000</a:t>
            </a:r>
            <a:r>
              <a:rPr lang="zh-CN" altLang="en-US" dirty="0"/>
              <a:t> </a:t>
            </a:r>
            <a:r>
              <a:rPr lang="en-US" altLang="zh-CN" dirty="0"/>
              <a:t>um2</a:t>
            </a:r>
            <a:r>
              <a:rPr lang="zh-CN" altLang="en-US" dirty="0"/>
              <a:t>这个量级</a:t>
            </a:r>
            <a:endParaRPr lang="en-US" altLang="zh-CN" dirty="0"/>
          </a:p>
          <a:p>
            <a:pPr lvl="1"/>
            <a:r>
              <a:rPr lang="en-US" altLang="zh-CN" dirty="0"/>
              <a:t>Reference:</a:t>
            </a:r>
            <a:r>
              <a:rPr lang="zh-CN" altLang="en-US" dirty="0"/>
              <a:t> </a:t>
            </a:r>
            <a:r>
              <a:rPr lang="en-US" altLang="zh-CN" dirty="0"/>
              <a:t>UCB</a:t>
            </a:r>
            <a:r>
              <a:rPr lang="zh-CN" altLang="en-US" dirty="0"/>
              <a:t> </a:t>
            </a:r>
            <a:r>
              <a:rPr lang="en-US" altLang="zh-CN" dirty="0"/>
              <a:t>Sodor</a:t>
            </a:r>
          </a:p>
          <a:p>
            <a:r>
              <a:rPr lang="zh-CN" altLang="en-US" dirty="0"/>
              <a:t>理论上单发射乱序的面积应该在</a:t>
            </a:r>
            <a:r>
              <a:rPr lang="en-US" altLang="zh-CN" dirty="0"/>
              <a:t>1500-2000</a:t>
            </a:r>
            <a:r>
              <a:rPr lang="zh-CN" altLang="en-US" dirty="0"/>
              <a:t> </a:t>
            </a:r>
            <a:r>
              <a:rPr lang="en-US" altLang="zh-CN" dirty="0"/>
              <a:t>um2</a:t>
            </a:r>
            <a:r>
              <a:rPr lang="zh-CN" altLang="en-US" dirty="0"/>
              <a:t>这个量级</a:t>
            </a:r>
            <a:endParaRPr lang="en-US" altLang="zh-CN" dirty="0"/>
          </a:p>
          <a:p>
            <a:pPr lvl="1"/>
            <a:r>
              <a:rPr lang="zh-CN" altLang="en-US" dirty="0"/>
              <a:t>然后要按照</a:t>
            </a:r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area</a:t>
            </a:r>
            <a:r>
              <a:rPr lang="zh-CN" altLang="en-US" dirty="0"/>
              <a:t>来算每次面积增加对于性能的影响</a:t>
            </a:r>
            <a:endParaRPr lang="en-US" altLang="zh-CN" dirty="0"/>
          </a:p>
          <a:p>
            <a:pPr lvl="1"/>
            <a:r>
              <a:rPr lang="zh-CN" altLang="en-US" dirty="0"/>
              <a:t>面积翻倍性能至少要多出来</a:t>
            </a:r>
            <a:r>
              <a:rPr lang="en-US" altLang="zh-CN" dirty="0"/>
              <a:t>1.3×</a:t>
            </a:r>
          </a:p>
          <a:p>
            <a:pPr lvl="1"/>
            <a:r>
              <a:rPr lang="zh-CN" altLang="en-US" dirty="0"/>
              <a:t>每达到一个多给</a:t>
            </a:r>
            <a:r>
              <a:rPr lang="en-US" altLang="zh-CN" dirty="0"/>
              <a:t>5</a:t>
            </a:r>
            <a:r>
              <a:rPr lang="zh-CN" altLang="en-US" dirty="0"/>
              <a:t>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9972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A0DD-03ED-19F3-023E-CE868D1D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代码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1FB35-9A39-1C1E-E6BF-797E3F43A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Driver</a:t>
            </a:r>
          </a:p>
          <a:p>
            <a:pPr lvl="1"/>
            <a:r>
              <a:rPr lang="en-US" dirty="0">
                <a:hlinkClick r:id="rId2"/>
              </a:rPr>
              <a:t>https://github.com/Synthesys-Lab/assassyn/blob/master/python/ci-tests/test_driver.py</a:t>
            </a:r>
            <a:endParaRPr lang="en-US" dirty="0"/>
          </a:p>
          <a:p>
            <a:r>
              <a:rPr lang="en-US" dirty="0" err="1"/>
              <a:t>两级流水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https://github.com/Synthesys-Lab/assassyn/blob/master/python/ci-tests/test_async_call.py</a:t>
            </a:r>
            <a:endParaRPr lang="en-US" dirty="0"/>
          </a:p>
          <a:p>
            <a:r>
              <a:rPr lang="en-US" altLang="zh-CN" dirty="0"/>
              <a:t>Downstream</a:t>
            </a:r>
          </a:p>
          <a:p>
            <a:pPr lvl="1"/>
            <a:r>
              <a:rPr lang="en-US" dirty="0">
                <a:hlinkClick r:id="rId4"/>
              </a:rPr>
              <a:t>https://github.com/Synthesys-Lab/assassyn/blob/master/python/ci-tests/test_downstream.py</a:t>
            </a:r>
            <a:endParaRPr lang="en-US" dirty="0"/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20520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511</Words>
  <Application>Microsoft Macintosh PowerPoint</Application>
  <PresentationFormat>Widescreen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大作业</vt:lpstr>
      <vt:lpstr>一个乱序的能够参数化的多发射CPU</vt:lpstr>
      <vt:lpstr>单发射的五级流水CPU</vt:lpstr>
      <vt:lpstr>要跑的程序</vt:lpstr>
      <vt:lpstr>跑起来的程序</vt:lpstr>
      <vt:lpstr>验收</vt:lpstr>
      <vt:lpstr>验收（Bonus）</vt:lpstr>
      <vt:lpstr>代码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Weng</dc:creator>
  <cp:lastModifiedBy>Jian Weng</cp:lastModifiedBy>
  <cp:revision>2</cp:revision>
  <dcterms:created xsi:type="dcterms:W3CDTF">2025-10-20T05:22:25Z</dcterms:created>
  <dcterms:modified xsi:type="dcterms:W3CDTF">2026-08-17T04:26:32Z</dcterms:modified>
</cp:coreProperties>
</file>